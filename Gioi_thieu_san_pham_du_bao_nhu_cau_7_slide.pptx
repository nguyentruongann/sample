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d13169ef2e4566" /><Relationship Type="http://schemas.openxmlformats.org/officeDocument/2006/relationships/extended-properties" Target="/docProps/app.xml" Id="Rd7b31091006b41bb" /><Relationship Type="http://schemas.openxmlformats.org/officeDocument/2006/relationships/officeDocument" Target="/ppt/presentation.xml" Id="Rf7925a5ffa5a4ea0" /></Relationships>
</file>

<file path=ppt/presentation.xml><?xml version="1.0" encoding="utf-8"?>
<p:presentation xmlns:p="http://schemas.openxmlformats.org/presentationml/2006/main">
  <p:sldMasterIdLst>
    <p:sldMasterId xmlns:r="http://schemas.openxmlformats.org/officeDocument/2006/relationships" id="2147483648" r:id="R84d65e2d1f93477f"/>
  </p:sldMasterIdLst>
  <p:notesMasterIdLst>
    <p:notesMasterId xmlns:r="http://schemas.openxmlformats.org/officeDocument/2006/relationships" r:id="R5a180a376b6b4743"/>
  </p:notesMasterIdLst>
  <p:sldIdLst>
    <p:sldId xmlns:r="http://schemas.openxmlformats.org/officeDocument/2006/relationships" id="256" r:id="R0c7e42d4f135413d"/>
    <p:sldId xmlns:r="http://schemas.openxmlformats.org/officeDocument/2006/relationships" id="257" r:id="R6e0f73b8aad04379"/>
    <p:sldId xmlns:r="http://schemas.openxmlformats.org/officeDocument/2006/relationships" id="258" r:id="Rf9094441945d426b"/>
    <p:sldId xmlns:r="http://schemas.openxmlformats.org/officeDocument/2006/relationships" id="259" r:id="Rec49b6f40b704192"/>
    <p:sldId xmlns:r="http://schemas.openxmlformats.org/officeDocument/2006/relationships" id="260" r:id="Rb121069c89b143e3"/>
    <p:sldId xmlns:r="http://schemas.openxmlformats.org/officeDocument/2006/relationships" id="261" r:id="R6aa19ebed88f46f7"/>
    <p:sldId xmlns:r="http://schemas.openxmlformats.org/officeDocument/2006/relationships" id="262" r:id="R398a4e61699e4b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f8d40c2cb74a88" /><Relationship Type="http://schemas.openxmlformats.org/officeDocument/2006/relationships/slideMaster" Target="/ppt/slideMasters/slideMaster1.xml" Id="R84d65e2d1f93477f" /><Relationship Type="http://schemas.openxmlformats.org/officeDocument/2006/relationships/notesMaster" Target="/ppt/notesMasters/notesMaster1.xml" Id="R5a180a376b6b4743" /><Relationship Type="http://schemas.openxmlformats.org/officeDocument/2006/relationships/presProps" Target="/ppt/presProps.xml" Id="R469a635db8a54eff" /><Relationship Type="http://schemas.openxmlformats.org/officeDocument/2006/relationships/tableStyles" Target="/ppt/tableStyles.xml" Id="R4305c5ce9f4643fc" /><Relationship Type="http://schemas.openxmlformats.org/officeDocument/2006/relationships/slide" Target="/ppt/slides/slide1.xml" Id="R0c7e42d4f135413d" /><Relationship Type="http://schemas.openxmlformats.org/officeDocument/2006/relationships/slide" Target="/ppt/slides/slide2.xml" Id="R6e0f73b8aad04379" /><Relationship Type="http://schemas.openxmlformats.org/officeDocument/2006/relationships/slide" Target="/ppt/slides/slide3.xml" Id="Rf9094441945d426b" /><Relationship Type="http://schemas.openxmlformats.org/officeDocument/2006/relationships/slide" Target="/ppt/slides/slide4.xml" Id="Rec49b6f40b704192" /><Relationship Type="http://schemas.openxmlformats.org/officeDocument/2006/relationships/slide" Target="/ppt/slides/slide5.xml" Id="Rb121069c89b143e3" /><Relationship Type="http://schemas.openxmlformats.org/officeDocument/2006/relationships/slide" Target="/ppt/slides/slide6.xml" Id="R6aa19ebed88f46f7" /><Relationship Type="http://schemas.openxmlformats.org/officeDocument/2006/relationships/slide" Target="/ppt/slides/slide7.xml" Id="R398a4e61699e4b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ff1dbeb96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18f0a2e8434a43" /><Relationship Type="http://schemas.openxmlformats.org/officeDocument/2006/relationships/notesMaster" Target="/ppt/notesMasters/notesMaster1.xml" Id="R179bcc6064f54b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ad7bc0e2ee4027" /><Relationship Type="http://schemas.openxmlformats.org/officeDocument/2006/relationships/notesMaster" Target="/ppt/notesMasters/notesMaster1.xml" Id="R15a41aee4fe54c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9fb20fa5614c03" /><Relationship Type="http://schemas.openxmlformats.org/officeDocument/2006/relationships/notesMaster" Target="/ppt/notesMasters/notesMaster1.xml" Id="Rff439db86d1544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d1ca1969554075" /><Relationship Type="http://schemas.openxmlformats.org/officeDocument/2006/relationships/notesMaster" Target="/ppt/notesMasters/notesMaster1.xml" Id="Rad8fd3f141ac4c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9d9fb49bb84e35" /><Relationship Type="http://schemas.openxmlformats.org/officeDocument/2006/relationships/notesMaster" Target="/ppt/notesMasters/notesMaster1.xml" Id="R2f2e2da054bb40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b365a12e864bad" /><Relationship Type="http://schemas.openxmlformats.org/officeDocument/2006/relationships/notesMaster" Target="/ppt/notesMasters/notesMaster1.xml" Id="R52f598dd9e5747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9995d550cb4867" /><Relationship Type="http://schemas.openxmlformats.org/officeDocument/2006/relationships/notesMaster" Target="/ppt/notesMasters/notesMaster1.xml" Id="R3b40c17928c74a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Sản phẩm hiện có là hệ thống dự báo, API và giao diện theo dõi nội bộ. Thực nghiệm dùng dữ liệu giả lập. Chưa tự điều phối tài xế.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Đây là nhóm người dùng mục tiêu. Chưa khẳng định có người dùng thực tế. Tài xế hưởng lợi gián tiếp, chưa có ứng dụng hướng dẫn tài xế trong phạm vi đã làm.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H10/H30/H60 là tổng nhu cầu trong 10/30/60 phút tiếp theo. API và dashboard cung cấp dự báo mới nhất, tra cứu khu vực. Nhu cầu đơn lẻ chưa xác định được thiếu cung, cần dữ liệu tài xế.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Lợi ích kinh doanh là kỳ vọng ứng dụng, chưa có phép đo giảm chờ xe, giảm chạy rỗng hoặc tăng doanh thu. Kết quả đo được là sai số trên dữ liệu giả lập và quan sát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Lịch sử 5.404.530 dòng trên danh sách 217 ô H3 quanh tâm TP.HCM. HOLDOUT là 14 ngày giả lập bổ sung 11–24/09/2026, đánh giá offline với mô hình giữ nguyên. WMAPE HOLDOUT 10,738–14,374%. Chênh TEST→HOLDOUT 0,034–0,218 điểm phần trăm. Nguồn số liệu: Pasted markdown.md mục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So sánh mức tăng giữa 7 ngày cuối và 7 ngày đầu HOLDOUT. Trình bày H10/H60 cho gọn. Cả sáu mô hình thiếu mức tăng 0,78–1,65 điểm phần trăm. Tập khu vực quan sát có thay đổi, không phải thống kê tăng trưởng thị trường. Thử nghiệm tuần 3 cho thấy còn khó theo biến động nhanh ở từng khu vực.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chính: Pasted markdown.md, bản chỉnh của Nguyễn Trường An ngày 13/10/2026.</a:t>
            </a:r>
          </a:p>
          <a:p xmlns:a="http://schemas.openxmlformats.org/drawingml/2006/main">
            <a:r>
              <a:t>Monitoring gồm Monitor 8001, Prometheus 9090, Grafana 3000. Quan sát tuần 4 chỉ ba giờ 09/10, coverage hai cửa sổ sau 67,3% Car và 59,0% Motorcycle. Có 105 PASS và 1 XFAIL. Chưa xác nhận vận hành production. Cấu hình chốt sáu LightGBM, không hiệu chỉnh, đầu ra không âm và làm tròn.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767591fc6b45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5c62d9164f4e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bc9a064c4647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a4c0ff0ba046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cfbc6cb8d44a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9803bbcc0c4f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27A99D-5A63-4856-826E-B24AA594E2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0FF847-BF28-4551-9970-37A0C4C303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BC2425-0650-40B1-AFDE-ADA999D470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EDF95D-AB51-408B-939D-27FE7F9B6B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A87B91-DCA7-48CE-8F9E-8336D2F3D8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EC9FAE-BBF4-4653-BBB3-CFB8C68513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E53F1A-2D33-4976-8AF8-324AF22863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B019F7-B539-429E-9FFF-FBBC30C52B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707B6-698E-44CC-8BB2-63BE3E1919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1E0AFB-4545-468C-AB8A-77B24EC2F9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255268ee6f4a68" /><Relationship Type="http://schemas.openxmlformats.org/officeDocument/2006/relationships/slideLayout" Target="/ppt/slideLayouts/slideLayout1.xml" Id="R33e56a552edd4db3" /><Relationship Type="http://schemas.openxmlformats.org/officeDocument/2006/relationships/slideLayout" Target="/ppt/slideLayouts/slideLayout2.xml" Id="Rded58b35334447a5" /><Relationship Type="http://schemas.openxmlformats.org/officeDocument/2006/relationships/slideLayout" Target="/ppt/slideLayouts/slideLayout3.xml" Id="R9b6190e3adb64dc2" /><Relationship Type="http://schemas.openxmlformats.org/officeDocument/2006/relationships/slideLayout" Target="/ppt/slideLayouts/slideLayout4.xml" Id="R1ff28dc5998e4a3f" /><Relationship Type="http://schemas.openxmlformats.org/officeDocument/2006/relationships/slideLayout" Target="/ppt/slideLayouts/slideLayout5.xml" Id="Rb5a1b21215074028" /><Relationship Type="http://schemas.openxmlformats.org/officeDocument/2006/relationships/slideLayout" Target="/ppt/slideLayouts/slideLayout6.xml" Id="Racc4d9a35ea144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e56a552edd4db3"/>
    <p:sldLayoutId xmlns:r="http://schemas.openxmlformats.org/officeDocument/2006/relationships" id="2147483650" r:id="Rded58b35334447a5"/>
    <p:sldLayoutId xmlns:r="http://schemas.openxmlformats.org/officeDocument/2006/relationships" id="2147483651" r:id="R9b6190e3adb64dc2"/>
    <p:sldLayoutId xmlns:r="http://schemas.openxmlformats.org/officeDocument/2006/relationships" id="2147483652" r:id="R1ff28dc5998e4a3f"/>
    <p:sldLayoutId xmlns:r="http://schemas.openxmlformats.org/officeDocument/2006/relationships" id="2147483653" r:id="Rb5a1b21215074028"/>
    <p:sldLayoutId xmlns:r="http://schemas.openxmlformats.org/officeDocument/2006/relationships" id="2147483654" r:id="Racc4d9a35ea144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d3382123e94d47" /><Relationship Type="http://schemas.openxmlformats.org/officeDocument/2006/relationships/notesSlide" Target="/ppt/notesSlides/notesSlide1.xml" Id="R0f7b0f9fa95541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5e14b7d6804c52" /><Relationship Type="http://schemas.openxmlformats.org/officeDocument/2006/relationships/notesSlide" Target="/ppt/notesSlides/notesSlide2.xml" Id="Rc2faddd3dc8b46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035b8aa2814fa7" /><Relationship Type="http://schemas.openxmlformats.org/officeDocument/2006/relationships/notesSlide" Target="/ppt/notesSlides/notesSlide3.xml" Id="Rdc2372936fd343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4ad2cbd93047a0" /><Relationship Type="http://schemas.openxmlformats.org/officeDocument/2006/relationships/notesSlide" Target="/ppt/notesSlides/notesSlide4.xml" Id="R137ac3741b874b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25d4a7c68048b1" /><Relationship Type="http://schemas.openxmlformats.org/officeDocument/2006/relationships/notesSlide" Target="/ppt/notesSlides/notesSlide5.xml" Id="R1f4fa049e1364f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b69a7740754c00" /><Relationship Type="http://schemas.openxmlformats.org/officeDocument/2006/relationships/chart" Target="/ppt/slides/charts/chart1.xml" Id="Rfef3d405a8fc4cea" /><Relationship Type="http://schemas.openxmlformats.org/officeDocument/2006/relationships/notesSlide" Target="/ppt/notesSlides/notesSlide6.xml" Id="R0a14d99d988444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ec685acbc243c6" /><Relationship Type="http://schemas.openxmlformats.org/officeDocument/2006/relationships/notesSlide" Target="/ppt/notesSlides/notesSlide7.xml" Id="R1cf1fdf3bf4e4b9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Nhu cầu thực tế tăng</c:v>
          </c:tx>
          <c:spPr>
            <a:solidFill xmlns:a="http://schemas.openxmlformats.org/drawingml/2006/main">
              <a:srgbClr val="007F80"/>
            </a:solidFill>
          </c:spPr>
          <c:invertIfNegative val="0"/>
          <c:cat>
            <c:strRef>
              <c:f>'Chart Data'!$A$2:$A$5</c:f>
              <c:strCache>
                <c:ptCount val="4"/>
                <c:pt idx="0">
                  <c:v>Ô tô H10</c:v>
                </c:pt>
                <c:pt idx="1">
                  <c:v>Ô tô H60</c:v>
                </c:pt>
                <c:pt idx="2">
                  <c:v>Xe máy H10</c:v>
                </c:pt>
                <c:pt idx="3">
                  <c:v>Xe máy H60</c:v>
                </c:pt>
              </c:strCache>
            </c:strRef>
          </c:cat>
          <c:val>
            <c:numRef>
              <c:f>'Chart Data'!$B$2:$B$5</c:f>
              <c:numCache>
                <c:formatCode>0.0%</c:formatCode>
                <c:ptCount val="4"/>
                <c:pt idx="0">
                  <c:v>0.1049</c:v>
                </c:pt>
                <c:pt idx="1">
                  <c:v>0.1019</c:v>
                </c:pt>
                <c:pt idx="2">
                  <c:v>0.1365</c:v>
                </c:pt>
                <c:pt idx="3">
                  <c:v>0.1342</c:v>
                </c:pt>
              </c:numCache>
            </c:numRef>
          </c:val>
        </c:ser>
        <c:ser>
          <c:idx val="1"/>
          <c:order val="1"/>
          <c:tx>
            <c:v>Dự báo tăng</c:v>
          </c:tx>
          <c:spPr>
            <a:solidFill xmlns:a="http://schemas.openxmlformats.org/drawingml/2006/main">
              <a:srgbClr val="CF742C"/>
            </a:solidFill>
          </c:spPr>
          <c:invertIfNegative val="0"/>
          <c:cat>
            <c:strRef>
              <c:f>'Chart Data'!$C$2:$C$5</c:f>
              <c:strCache>
                <c:ptCount val="4"/>
                <c:pt idx="0">
                  <c:v>Ô tô H10</c:v>
                </c:pt>
                <c:pt idx="1">
                  <c:v>Ô tô H60</c:v>
                </c:pt>
                <c:pt idx="2">
                  <c:v>Xe máy H10</c:v>
                </c:pt>
                <c:pt idx="3">
                  <c:v>Xe máy H60</c:v>
                </c:pt>
              </c:strCache>
            </c:strRef>
          </c:cat>
          <c:val>
            <c:numRef>
              <c:f>'Chart Data'!$D$2:$D$5</c:f>
              <c:numCache>
                <c:formatCode>0.0%</c:formatCode>
                <c:ptCount val="4"/>
                <c:pt idx="0">
                  <c:v>0.0961</c:v>
                </c:pt>
                <c:pt idx="1">
                  <c:v>0.0854</c:v>
                </c:pt>
                <c:pt idx="2">
                  <c:v>0.1286</c:v>
                </c:pt>
                <c:pt idx="3">
                  <c:v>0.1196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BCD"/>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catAx>
      <c:valAx>
        <c:axId val="48672768"/>
        <c:scaling>
          <c:orientation val="minMax"/>
          <c:max val="0.16"/>
          <c:min val="0"/>
        </c:scaling>
        <c:delete val="0"/>
        <c:axPos val="l"/>
        <c:majorGridlines>
          <c:spPr>
            <a:ln xmlns:a="http://schemas.openxmlformats.org/drawingml/2006/main" w="9525">
              <a:solidFill>
                <a:srgbClr val="DEE7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F3B"/>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BEBEB19-860E-4253-8E42-8C0470EAD04D}"/>
              </a:ext>
            </a:extLst>
          </p:cNvPr>
          <p:cNvSpPr>
            <a:spLocks xmlns:a="http://schemas.openxmlformats.org/drawingml/2006/main" noGrp="1"/>
          </p:cNvSpPr>
          <p:nvPr/>
        </p:nvSpPr>
        <p:spPr>
          <a:xfrm xmlns:a="http://schemas.openxmlformats.org/drawingml/2006/main">
            <a:off x="609600" y="1028700"/>
            <a:ext cx="10858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275" b="1">
                <a:solidFill>
                  <a:srgbClr val="FFFFFF"/>
                </a:solidFill>
                <a:latin typeface="DejaVu Sans"/>
                <a:ea typeface="DejaVu Sans"/>
                <a:cs typeface="DejaVu Sans"/>
              </a:defRPr>
            </a:defPPr>
          </a:lstStyle>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HỆ THỐNG DỰ BÁO</a:t>
            </a:r>
          </a:p>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NHU CẦU ĐẶT CHUYẾN</a:t>
            </a:r>
          </a:p>
        </p:txBody>
      </p:sp>
      <p:sp>
        <p:nvSpPr>
          <p:cNvPr id="2" name="text-1">
            <a:extLst xmlns:a="http://schemas.openxmlformats.org/drawingml/2006/main">
              <a:ext uri="{FF2B5EF4-FFF2-40B4-BE49-F238E27FC236}">
                <a16:creationId xmlns:a16="http://schemas.microsoft.com/office/drawing/2014/main" id="{E91E0920-1A6D-40F6-9E98-1E8F5427AED6}"/>
              </a:ext>
            </a:extLst>
          </p:cNvPr>
          <p:cNvSpPr>
            <a:spLocks xmlns:a="http://schemas.openxmlformats.org/drawingml/2006/main" noGrp="1"/>
          </p:cNvSpPr>
          <p:nvPr/>
        </p:nvSpPr>
        <p:spPr>
          <a:xfrm xmlns:a="http://schemas.openxmlformats.org/drawingml/2006/main">
            <a:off x="647700" y="3190875"/>
            <a:ext cx="1057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B5E4DE"/>
                </a:solidFill>
                <a:latin typeface="DejaVu Sans"/>
                <a:ea typeface="DejaVu Sans"/>
                <a:cs typeface="DejaVu Sans"/>
              </a:defRPr>
            </a:defPPr>
          </a:lstStyle>
          <a:p xmlns:a="http://schemas.openxmlformats.org/drawingml/2006/main">
            <a:pPr>
              <a:defRPr sz="2400" b="0">
                <a:solidFill>
                  <a:srgbClr val="B5E4DE"/>
                </a:solidFill>
                <a:latin typeface="DejaVu Sans"/>
                <a:ea typeface="DejaVu Sans"/>
                <a:cs typeface="DejaVu Sans"/>
              </a:defRPr>
            </a:pPr>
            <a:r>
              <a:rPr sz="2400" b="0">
                <a:solidFill>
                  <a:srgbClr val="B5E4DE"/>
                </a:solidFill>
                <a:latin typeface="DejaVu Sans"/>
                <a:ea typeface="DejaVu Sans"/>
                <a:cs typeface="DejaVu Sans"/>
              </a:rPr>
              <a:t>Cho biết khu vực nào sắp có nhiều yêu cầu đặt xe</a:t>
            </a:r>
          </a:p>
          <a:p xmlns:a="http://schemas.openxmlformats.org/drawingml/2006/main">
            <a:pPr>
              <a:defRPr sz="2400" b="0">
                <a:solidFill>
                  <a:srgbClr val="B5E4DE"/>
                </a:solidFill>
                <a:latin typeface="DejaVu Sans"/>
                <a:ea typeface="DejaVu Sans"/>
                <a:cs typeface="DejaVu Sans"/>
              </a:defRPr>
            </a:pPr>
            <a:r>
              <a:rPr sz="2400" b="0">
                <a:solidFill>
                  <a:srgbClr val="B5E4DE"/>
                </a:solidFill>
                <a:latin typeface="DejaVu Sans"/>
                <a:ea typeface="DejaVu Sans"/>
                <a:cs typeface="DejaVu Sans"/>
              </a:rPr>
              <a:t>để hỗ trợ đội vận hành chuẩn bị tài xế</a:t>
            </a:r>
          </a:p>
        </p:txBody>
      </p:sp>
      <p:sp>
        <p:nvSpPr>
          <p:cNvPr id="3" name="text-2">
            <a:extLst xmlns:a="http://schemas.openxmlformats.org/drawingml/2006/main">
              <a:ext uri="{FF2B5EF4-FFF2-40B4-BE49-F238E27FC236}">
                <a16:creationId xmlns:a16="http://schemas.microsoft.com/office/drawing/2014/main" id="{859ED4F6-B5A9-4B60-A473-07AA68C978FB}"/>
              </a:ext>
            </a:extLst>
          </p:cNvPr>
          <p:cNvSpPr>
            <a:spLocks xmlns:a="http://schemas.openxmlformats.org/drawingml/2006/main" noGrp="1"/>
          </p:cNvSpPr>
          <p:nvPr/>
        </p:nvSpPr>
        <p:spPr>
          <a:xfrm xmlns:a="http://schemas.openxmlformats.org/drawingml/2006/main">
            <a:off x="647700" y="4667250"/>
            <a:ext cx="105727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Ô tô và xe máy</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Cập nhật mỗi 10 phút, dự báo trước 10, 30 và 60 phút</a:t>
            </a:r>
          </a:p>
        </p:txBody>
      </p:sp>
      <p:sp>
        <p:nvSpPr>
          <p:cNvPr id="4" name="text-3">
            <a:extLst xmlns:a="http://schemas.openxmlformats.org/drawingml/2006/main">
              <a:ext uri="{FF2B5EF4-FFF2-40B4-BE49-F238E27FC236}">
                <a16:creationId xmlns:a16="http://schemas.microsoft.com/office/drawing/2014/main" id="{41575AB5-B8A1-49F7-9192-659217B7A7BF}"/>
              </a:ext>
            </a:extLst>
          </p:cNvPr>
          <p:cNvSpPr>
            <a:spLocks xmlns:a="http://schemas.openxmlformats.org/drawingml/2006/main" noGrp="1"/>
          </p:cNvSpPr>
          <p:nvPr/>
        </p:nvSpPr>
        <p:spPr>
          <a:xfrm xmlns:a="http://schemas.openxmlformats.org/drawingml/2006/main">
            <a:off x="647700" y="624840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75" b="0">
                <a:solidFill>
                  <a:srgbClr val="FFFFFF"/>
                </a:solidFill>
                <a:latin typeface="DejaVu Sans"/>
                <a:ea typeface="DejaVu Sans"/>
                <a:cs typeface="DejaVu Sans"/>
              </a:defRPr>
            </a:defPPr>
          </a:lstStyle>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Nguyễn Trường An   13/10/2026</a:t>
            </a:r>
          </a:p>
        </p:txBody>
      </p:sp>
    </p:spTree>
    <p:extLst>
      <p:ext uri="{BB962C8B-B14F-4D97-AF65-F5344CB8AC3E}">
        <p14:creationId xmlns:p14="http://schemas.microsoft.com/office/powerpoint/2010/main" val="1915451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75EDC70-D571-4063-901F-368845BF6560}"/>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Ai sử dụng sản phẩm</a:t>
            </a:r>
          </a:p>
        </p:txBody>
      </p:sp>
      <p:sp>
        <p:nvSpPr>
          <p:cNvPr id="2" name="text-1">
            <a:extLst xmlns:a="http://schemas.openxmlformats.org/drawingml/2006/main">
              <a:ext uri="{FF2B5EF4-FFF2-40B4-BE49-F238E27FC236}">
                <a16:creationId xmlns:a16="http://schemas.microsoft.com/office/drawing/2014/main" id="{E4008907-993A-411A-916E-3105C6B8DC88}"/>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0C40DFBB-44A0-4D54-82AE-1D437B6F728A}"/>
              </a:ext>
            </a:extLst>
          </p:cNvPr>
          <p:cNvSpPr>
            <a:spLocks xmlns:a="http://schemas.openxmlformats.org/drawingml/2006/main" noGrp="1"/>
          </p:cNvSpPr>
          <p:nvPr/>
        </p:nvSpPr>
        <p:spPr>
          <a:xfrm xmlns:a="http://schemas.openxmlformats.org/drawingml/2006/main">
            <a:off x="571500" y="15716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Đội vận hành và điều phối</a:t>
            </a:r>
          </a:p>
        </p:txBody>
      </p:sp>
      <p:sp>
        <p:nvSpPr>
          <p:cNvPr id="4" name="text-3">
            <a:extLst xmlns:a="http://schemas.openxmlformats.org/drawingml/2006/main">
              <a:ext uri="{FF2B5EF4-FFF2-40B4-BE49-F238E27FC236}">
                <a16:creationId xmlns:a16="http://schemas.microsoft.com/office/drawing/2014/main" id="{624CFE10-9DE9-489A-9C95-C49293CA9639}"/>
              </a:ext>
            </a:extLst>
          </p:cNvPr>
          <p:cNvSpPr>
            <a:spLocks xmlns:a="http://schemas.openxmlformats.org/drawingml/2006/main" noGrp="1"/>
          </p:cNvSpPr>
          <p:nvPr/>
        </p:nvSpPr>
        <p:spPr>
          <a:xfrm xmlns:a="http://schemas.openxmlformats.org/drawingml/2006/main">
            <a:off x="571500" y="20288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Xem nhu cầu dự kiến theo khu vực, phương tiện và thời gian để cân nhắc chuẩn bị nguồn lực.</a:t>
            </a:r>
          </a:p>
        </p:txBody>
      </p:sp>
      <p:sp>
        <p:nvSpPr>
          <p:cNvPr id="5" name="text-4">
            <a:extLst xmlns:a="http://schemas.openxmlformats.org/drawingml/2006/main">
              <a:ext uri="{FF2B5EF4-FFF2-40B4-BE49-F238E27FC236}">
                <a16:creationId xmlns:a16="http://schemas.microsoft.com/office/drawing/2014/main" id="{B82DECCE-44AF-4D63-8C97-44F7D9622B1C}"/>
              </a:ext>
            </a:extLst>
          </p:cNvPr>
          <p:cNvSpPr>
            <a:spLocks xmlns:a="http://schemas.openxmlformats.org/drawingml/2006/main" noGrp="1"/>
          </p:cNvSpPr>
          <p:nvPr/>
        </p:nvSpPr>
        <p:spPr>
          <a:xfrm xmlns:a="http://schemas.openxmlformats.org/drawingml/2006/main">
            <a:off x="571500" y="30956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Nhóm dữ liệu và kỹ thuật</a:t>
            </a:r>
          </a:p>
        </p:txBody>
      </p:sp>
      <p:sp>
        <p:nvSpPr>
          <p:cNvPr id="6" name="text-5">
            <a:extLst xmlns:a="http://schemas.openxmlformats.org/drawingml/2006/main">
              <a:ext uri="{FF2B5EF4-FFF2-40B4-BE49-F238E27FC236}">
                <a16:creationId xmlns:a16="http://schemas.microsoft.com/office/drawing/2014/main" id="{F19EF7E8-3A1D-4069-99F2-410EB6FF81EE}"/>
              </a:ext>
            </a:extLst>
          </p:cNvPr>
          <p:cNvSpPr>
            <a:spLocks xmlns:a="http://schemas.openxmlformats.org/drawingml/2006/main" noGrp="1"/>
          </p:cNvSpPr>
          <p:nvPr/>
        </p:nvSpPr>
        <p:spPr>
          <a:xfrm xmlns:a="http://schemas.openxmlformats.org/drawingml/2006/main">
            <a:off x="571500" y="35528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Kiểm tra dự báo có bám thực tế không, đầu vào có thiếu hoặc cũ không và hệ thống có chạy đúng lịch không.</a:t>
            </a:r>
          </a:p>
        </p:txBody>
      </p:sp>
      <p:sp>
        <p:nvSpPr>
          <p:cNvPr id="7" name="text-6">
            <a:extLst xmlns:a="http://schemas.openxmlformats.org/drawingml/2006/main">
              <a:ext uri="{FF2B5EF4-FFF2-40B4-BE49-F238E27FC236}">
                <a16:creationId xmlns:a16="http://schemas.microsoft.com/office/drawing/2014/main" id="{822EBED8-C054-4A98-B2C9-CDBF0817D0BF}"/>
              </a:ext>
            </a:extLst>
          </p:cNvPr>
          <p:cNvSpPr>
            <a:spLocks xmlns:a="http://schemas.openxmlformats.org/drawingml/2006/main" noGrp="1"/>
          </p:cNvSpPr>
          <p:nvPr/>
        </p:nvSpPr>
        <p:spPr>
          <a:xfrm xmlns:a="http://schemas.openxmlformats.org/drawingml/2006/main">
            <a:off x="571500" y="46196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Tài xế và khách hàng</a:t>
            </a:r>
          </a:p>
        </p:txBody>
      </p:sp>
      <p:sp>
        <p:nvSpPr>
          <p:cNvPr id="8" name="text-7">
            <a:extLst xmlns:a="http://schemas.openxmlformats.org/drawingml/2006/main">
              <a:ext uri="{FF2B5EF4-FFF2-40B4-BE49-F238E27FC236}">
                <a16:creationId xmlns:a16="http://schemas.microsoft.com/office/drawing/2014/main" id="{F05E3FE8-F3A4-40FB-B8E2-7327776E3EAB}"/>
              </a:ext>
            </a:extLst>
          </p:cNvPr>
          <p:cNvSpPr>
            <a:spLocks xmlns:a="http://schemas.openxmlformats.org/drawingml/2006/main" noGrp="1"/>
          </p:cNvSpPr>
          <p:nvPr/>
        </p:nvSpPr>
        <p:spPr>
          <a:xfrm xmlns:a="http://schemas.openxmlformats.org/drawingml/2006/main">
            <a:off x="571500" y="50768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Hưởng lợi gián tiếp nếu đội vận hành sử dụng dự báo hiệu quả để bố trí xe phù hợp.</a:t>
            </a:r>
          </a:p>
        </p:txBody>
      </p:sp>
    </p:spTree>
    <p:extLst>
      <p:ext uri="{BB962C8B-B14F-4D97-AF65-F5344CB8AC3E}">
        <p14:creationId xmlns:p14="http://schemas.microsoft.com/office/powerpoint/2010/main" val="17061250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8DC687A-8786-41BF-B2FA-09E735937E7D}"/>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Người dùng nhận được gì</a:t>
            </a:r>
          </a:p>
        </p:txBody>
      </p:sp>
      <p:sp>
        <p:nvSpPr>
          <p:cNvPr id="2" name="text-1">
            <a:extLst xmlns:a="http://schemas.openxmlformats.org/drawingml/2006/main">
              <a:ext uri="{FF2B5EF4-FFF2-40B4-BE49-F238E27FC236}">
                <a16:creationId xmlns:a16="http://schemas.microsoft.com/office/drawing/2014/main" id="{5E7BA169-D52F-4FFA-8423-F785C3DF53B4}"/>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03</a:t>
            </a:r>
          </a:p>
        </p:txBody>
      </p:sp>
      <p:sp>
        <p:nvSpPr>
          <p:cNvPr id="3" name="text-2">
            <a:extLst xmlns:a="http://schemas.openxmlformats.org/drawingml/2006/main">
              <a:ext uri="{FF2B5EF4-FFF2-40B4-BE49-F238E27FC236}">
                <a16:creationId xmlns:a16="http://schemas.microsoft.com/office/drawing/2014/main" id="{86BB0C22-831E-4AD5-A03E-8A308EA7DE42}"/>
              </a:ext>
            </a:extLst>
          </p:cNvPr>
          <p:cNvSpPr>
            <a:spLocks xmlns:a="http://schemas.openxmlformats.org/drawingml/2006/main" noGrp="1"/>
          </p:cNvSpPr>
          <p:nvPr/>
        </p:nvSpPr>
        <p:spPr>
          <a:xfrm xmlns:a="http://schemas.openxmlformats.org/drawingml/2006/main">
            <a:off x="571500" y="1476375"/>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007F80"/>
                </a:solidFill>
                <a:latin typeface="DejaVu Sans"/>
                <a:ea typeface="DejaVu Sans"/>
                <a:cs typeface="DejaVu Sans"/>
              </a:defRPr>
            </a:defPPr>
          </a:lstStyle>
          <a:p xmlns:a="http://schemas.openxmlformats.org/drawingml/2006/main">
            <a:pPr>
              <a:defRPr sz="2250" b="1">
                <a:solidFill>
                  <a:srgbClr val="007F80"/>
                </a:solidFill>
                <a:latin typeface="DejaVu Sans"/>
                <a:ea typeface="DejaVu Sans"/>
                <a:cs typeface="DejaVu Sans"/>
              </a:defRPr>
            </a:pPr>
            <a:r>
              <a:rPr sz="2250" b="1">
                <a:solidFill>
                  <a:srgbClr val="007F80"/>
                </a:solidFill>
                <a:latin typeface="DejaVu Sans"/>
                <a:ea typeface="DejaVu Sans"/>
                <a:cs typeface="DejaVu Sans"/>
              </a:rPr>
              <a:t>Số yêu cầu đặt chuyến dự kiến tại từng khu vực, riêng cho ô tô và xe máy</a:t>
            </a:r>
          </a:p>
        </p:txBody>
      </p:sp>
      <p:graphicFrame>
        <p:nvGraphicFramePr>
          <p:cNvPr id="4" name="">
            <a:extLst xmlns:a="http://schemas.openxmlformats.org/drawingml/2006/main">
              <a:ext uri="{FF2B5EF4-FFF2-40B4-BE49-F238E27FC236}">
                <a16:creationId xmlns:a16="http://schemas.microsoft.com/office/drawing/2014/main" id="{B1E41252-9878-4094-995A-8167D736C682}"/>
              </a:ext>
            </a:extLst>
          </p:cNvPr>
          <p:cNvGraphicFramePr/>
          <p:nvPr/>
        </p:nvGraphicFramePr>
        <p:xfrm>
          <a:off xmlns:a="http://schemas.openxmlformats.org/drawingml/2006/main" x="571500" y="2552700"/>
          <a:ext xmlns:a="http://schemas.openxmlformats.org/drawingml/2006/main" cx="11049000" cy="2333625"/>
        </p:xfrm>
        <a:graphic xmlns:a="http://schemas.openxmlformats.org/drawingml/2006/main">
          <a:graphicData uri="http://schemas.openxmlformats.org/drawingml/2006/table">
            <a:tbl>
              <a:tblPr/>
              <a:tblGrid>
                <a:gridCol w="3143250"/>
                <a:gridCol w="7905750"/>
              </a:tblGrid>
              <a:tr h="583406">
                <a:tc>
                  <a:txBody>
                    <a:bodyPr/>
                    <a:lstStyle/>
                    <a:p>
                      <a:r>
                        <a:rPr sz="1950" b="1">
                          <a:solidFill>
                            <a:srgbClr val="FFFFFF"/>
                          </a:solidFill>
                          <a:latin typeface="DejaVu Sans"/>
                          <a:ea typeface="DejaVu Sans"/>
                          <a:cs typeface="DejaVu Sans"/>
                        </a:rPr>
                        <a:t>Khoảng dự báo</a:t>
                      </a:r>
                    </a:p>
                  </a:txBody>
                  <a:tcPr marL="91440" marR="91440" marT="45720" marB="45720">
                    <a:lnL w="9525">
                      <a:solidFill>
                        <a:srgbClr val="D1DFE0"/>
                      </a:solidFill>
                      <a:prstDash val="solid"/>
                    </a:lnL>
                    <a:lnR w="9525">
                      <a:solidFill>
                        <a:srgbClr val="D1DFE0"/>
                      </a:solidFill>
                      <a:prstDash val="solid"/>
                    </a:lnR>
                    <a:lnT w="9525">
                      <a:solidFill>
                        <a:srgbClr val="D1DFE0"/>
                      </a:solidFill>
                      <a:prstDash val="solid"/>
                    </a:lnT>
                    <a:lnB w="9525">
                      <a:solidFill>
                        <a:srgbClr val="D1DFE0"/>
                      </a:solidFill>
                      <a:prstDash val="solid"/>
                    </a:lnB>
                    <a:solidFill>
                      <a:srgbClr val="152F3B"/>
                    </a:solidFill>
                  </a:tcPr>
                </a:tc>
                <a:tc>
                  <a:txBody>
                    <a:bodyPr/>
                    <a:lstStyle/>
                    <a:p>
                      <a:r>
                        <a:rPr sz="1950" b="1">
                          <a:solidFill>
                            <a:srgbClr val="FFFFFF"/>
                          </a:solidFill>
                          <a:latin typeface="DejaVu Sans"/>
                          <a:ea typeface="DejaVu Sans"/>
                          <a:cs typeface="DejaVu Sans"/>
                        </a:rPr>
                        <a:t>Cách sử dụng thông tin</a:t>
                      </a:r>
                    </a:p>
                  </a:txBody>
                  <a:tcPr marL="91440" marR="91440" marT="45720" marB="45720">
                    <a:lnR w="9525">
                      <a:solidFill>
                        <a:srgbClr val="D1DFE0"/>
                      </a:solidFill>
                      <a:prstDash val="solid"/>
                    </a:lnR>
                    <a:lnT w="9525">
                      <a:solidFill>
                        <a:srgbClr val="D1DFE0"/>
                      </a:solidFill>
                      <a:prstDash val="solid"/>
                    </a:lnT>
                    <a:lnB w="9525">
                      <a:solidFill>
                        <a:srgbClr val="D1DFE0"/>
                      </a:solidFill>
                      <a:prstDash val="solid"/>
                    </a:lnB>
                    <a:solidFill>
                      <a:srgbClr val="152F3B"/>
                    </a:solidFill>
                  </a:tcPr>
                </a:tc>
              </a:tr>
              <a:tr h="583406">
                <a:tc>
                  <a:txBody>
                    <a:bodyPr/>
                    <a:lstStyle/>
                    <a:p>
                      <a:r>
                        <a:rPr sz="1950" b="0">
                          <a:solidFill>
                            <a:srgbClr val="152F3B"/>
                          </a:solidFill>
                          <a:latin typeface="DejaVu Sans"/>
                          <a:ea typeface="DejaVu Sans"/>
                          <a:cs typeface="DejaVu Sans"/>
                        </a:rPr>
                        <a:t>10 phút tới</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FFFFFF"/>
                    </a:solidFill>
                  </a:tcPr>
                </a:tc>
                <a:tc>
                  <a:txBody>
                    <a:bodyPr/>
                    <a:lstStyle/>
                    <a:p>
                      <a:r>
                        <a:rPr sz="1950" b="0">
                          <a:solidFill>
                            <a:srgbClr val="152F3B"/>
                          </a:solidFill>
                          <a:latin typeface="DejaVu Sans"/>
                          <a:ea typeface="DejaVu Sans"/>
                          <a:cs typeface="DejaVu Sans"/>
                        </a:rPr>
                        <a:t>Theo dõi nhu cầu sắp xảy ra gần nhất</a:t>
                      </a:r>
                    </a:p>
                  </a:txBody>
                  <a:tcPr marL="91440" marR="91440" marT="45720" marB="45720">
                    <a:lnR w="9525">
                      <a:solidFill>
                        <a:srgbClr val="D1DFE0"/>
                      </a:solidFill>
                      <a:prstDash val="solid"/>
                    </a:lnR>
                    <a:lnB w="9525">
                      <a:solidFill>
                        <a:srgbClr val="D1DFE0"/>
                      </a:solidFill>
                      <a:prstDash val="solid"/>
                    </a:lnB>
                    <a:solidFill>
                      <a:srgbClr val="FFFFFF"/>
                    </a:solidFill>
                  </a:tcPr>
                </a:tc>
              </a:tr>
              <a:tr h="583406">
                <a:tc>
                  <a:txBody>
                    <a:bodyPr/>
                    <a:lstStyle/>
                    <a:p>
                      <a:r>
                        <a:rPr sz="1950" b="0">
                          <a:solidFill>
                            <a:srgbClr val="152F3B"/>
                          </a:solidFill>
                          <a:latin typeface="DejaVu Sans"/>
                          <a:ea typeface="DejaVu Sans"/>
                          <a:cs typeface="DejaVu Sans"/>
                        </a:rPr>
                        <a:t>30 phút tới</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EDF4F4"/>
                    </a:solidFill>
                  </a:tcPr>
                </a:tc>
                <a:tc>
                  <a:txBody>
                    <a:bodyPr/>
                    <a:lstStyle/>
                    <a:p>
                      <a:r>
                        <a:rPr sz="1950" b="0">
                          <a:solidFill>
                            <a:srgbClr val="152F3B"/>
                          </a:solidFill>
                          <a:latin typeface="DejaVu Sans"/>
                          <a:ea typeface="DejaVu Sans"/>
                          <a:cs typeface="DejaVu Sans"/>
                        </a:rPr>
                        <a:t>Cân nhắc chuẩn bị điều động tới nơi nhu cầu cao</a:t>
                      </a:r>
                    </a:p>
                  </a:txBody>
                  <a:tcPr marL="91440" marR="91440" marT="45720" marB="45720">
                    <a:lnR w="9525">
                      <a:solidFill>
                        <a:srgbClr val="D1DFE0"/>
                      </a:solidFill>
                      <a:prstDash val="solid"/>
                    </a:lnR>
                    <a:lnB w="9525">
                      <a:solidFill>
                        <a:srgbClr val="D1DFE0"/>
                      </a:solidFill>
                      <a:prstDash val="solid"/>
                    </a:lnB>
                    <a:solidFill>
                      <a:srgbClr val="EDF4F4"/>
                    </a:solidFill>
                  </a:tcPr>
                </a:tc>
              </a:tr>
              <a:tr h="583406">
                <a:tc>
                  <a:txBody>
                    <a:bodyPr/>
                    <a:lstStyle/>
                    <a:p>
                      <a:r>
                        <a:rPr sz="1950" b="0">
                          <a:solidFill>
                            <a:srgbClr val="152F3B"/>
                          </a:solidFill>
                          <a:latin typeface="DejaVu Sans"/>
                          <a:ea typeface="DejaVu Sans"/>
                          <a:cs typeface="DejaVu Sans"/>
                        </a:rPr>
                        <a:t>60 phút tới</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FFFFFF"/>
                    </a:solidFill>
                  </a:tcPr>
                </a:tc>
                <a:tc>
                  <a:txBody>
                    <a:bodyPr/>
                    <a:lstStyle/>
                    <a:p>
                      <a:r>
                        <a:rPr sz="1950" b="0">
                          <a:solidFill>
                            <a:srgbClr val="152F3B"/>
                          </a:solidFill>
                          <a:latin typeface="DejaVu Sans"/>
                          <a:ea typeface="DejaVu Sans"/>
                          <a:cs typeface="DejaVu Sans"/>
                        </a:rPr>
                        <a:t>Tham khảo nhu cầu để bố trí nguồn lực sớm</a:t>
                      </a:r>
                    </a:p>
                  </a:txBody>
                  <a:tcPr marL="91440" marR="91440" marT="45720" marB="45720">
                    <a:lnR w="9525">
                      <a:solidFill>
                        <a:srgbClr val="D1DFE0"/>
                      </a:solidFill>
                      <a:prstDash val="solid"/>
                    </a:lnR>
                    <a:lnB w="9525">
                      <a:solidFill>
                        <a:srgbClr val="D1DFE0"/>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B4A726E-0CD9-4AB7-9D50-52BF4C8DEA89}"/>
              </a:ext>
            </a:extLst>
          </p:cNvPr>
          <p:cNvSpPr>
            <a:spLocks xmlns:a="http://schemas.openxmlformats.org/drawingml/2006/main" noGrp="1"/>
          </p:cNvSpPr>
          <p:nvPr/>
        </p:nvSpPr>
        <p:spPr>
          <a:xfrm xmlns:a="http://schemas.openxmlformats.org/drawingml/2006/main">
            <a:off x="571500" y="5667375"/>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7F80"/>
                </a:solidFill>
                <a:latin typeface="DejaVu Sans"/>
                <a:ea typeface="DejaVu Sans"/>
                <a:cs typeface="DejaVu Sans"/>
              </a:defRPr>
            </a:defPPr>
          </a:lstStyle>
          <a:p xmlns:a="http://schemas.openxmlformats.org/drawingml/2006/main">
            <a:pPr>
              <a:defRPr sz="1950" b="1">
                <a:solidFill>
                  <a:srgbClr val="007F80"/>
                </a:solidFill>
                <a:latin typeface="DejaVu Sans"/>
                <a:ea typeface="DejaVu Sans"/>
                <a:cs typeface="DejaVu Sans"/>
              </a:defRPr>
            </a:pPr>
            <a:r>
              <a:rPr sz="1950" b="1">
                <a:solidFill>
                  <a:srgbClr val="007F80"/>
                </a:solidFill>
                <a:latin typeface="DejaVu Sans"/>
                <a:ea typeface="DejaVu Sans"/>
                <a:cs typeface="DejaVu Sans"/>
              </a:rPr>
              <a:t>API và dashboard cung cấp kết quả. Người vận hành quyết định phương án điều phối.</a:t>
            </a:r>
          </a:p>
        </p:txBody>
      </p:sp>
    </p:spTree>
    <p:extLst>
      <p:ext uri="{BB962C8B-B14F-4D97-AF65-F5344CB8AC3E}">
        <p14:creationId xmlns:p14="http://schemas.microsoft.com/office/powerpoint/2010/main" val="5300989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094E24F-372F-4CDC-8C60-EACAA31B667D}"/>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Giá trị đối với hoạt động vận hành</a:t>
            </a:r>
          </a:p>
        </p:txBody>
      </p:sp>
      <p:sp>
        <p:nvSpPr>
          <p:cNvPr id="2" name="text-1">
            <a:extLst xmlns:a="http://schemas.openxmlformats.org/drawingml/2006/main">
              <a:ext uri="{FF2B5EF4-FFF2-40B4-BE49-F238E27FC236}">
                <a16:creationId xmlns:a16="http://schemas.microsoft.com/office/drawing/2014/main" id="{3D709CF1-29D2-4EA0-8BE7-F83ADAC1AA4C}"/>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04</a:t>
            </a:r>
          </a:p>
        </p:txBody>
      </p:sp>
      <p:sp>
        <p:nvSpPr>
          <p:cNvPr id="3" name="text-2">
            <a:extLst xmlns:a="http://schemas.openxmlformats.org/drawingml/2006/main">
              <a:ext uri="{FF2B5EF4-FFF2-40B4-BE49-F238E27FC236}">
                <a16:creationId xmlns:a16="http://schemas.microsoft.com/office/drawing/2014/main" id="{44FB4A60-1C3E-46AD-AEA4-3C929C342A1C}"/>
              </a:ext>
            </a:extLst>
          </p:cNvPr>
          <p:cNvSpPr>
            <a:spLocks xmlns:a="http://schemas.openxmlformats.org/drawingml/2006/main" noGrp="1"/>
          </p:cNvSpPr>
          <p:nvPr/>
        </p:nvSpPr>
        <p:spPr>
          <a:xfrm xmlns:a="http://schemas.openxmlformats.org/drawingml/2006/main">
            <a:off x="571500" y="15335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Có thông tin sớm để chuẩn bị</a:t>
            </a:r>
          </a:p>
        </p:txBody>
      </p:sp>
      <p:sp>
        <p:nvSpPr>
          <p:cNvPr id="4" name="text-3">
            <a:extLst xmlns:a="http://schemas.openxmlformats.org/drawingml/2006/main">
              <a:ext uri="{FF2B5EF4-FFF2-40B4-BE49-F238E27FC236}">
                <a16:creationId xmlns:a16="http://schemas.microsoft.com/office/drawing/2014/main" id="{B4334879-FD0E-4521-BFEC-31891E506108}"/>
              </a:ext>
            </a:extLst>
          </p:cNvPr>
          <p:cNvSpPr>
            <a:spLocks xmlns:a="http://schemas.openxmlformats.org/drawingml/2006/main" noGrp="1"/>
          </p:cNvSpPr>
          <p:nvPr/>
        </p:nvSpPr>
        <p:spPr>
          <a:xfrm xmlns:a="http://schemas.openxmlformats.org/drawingml/2006/main">
            <a:off x="571500" y="19907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Nhìn được nhu cầu sắp tới, thay vì chỉ biết nơi đang đông khách tại thời điểm hiện tại.</a:t>
            </a:r>
          </a:p>
        </p:txBody>
      </p:sp>
      <p:sp>
        <p:nvSpPr>
          <p:cNvPr id="5" name="text-4">
            <a:extLst xmlns:a="http://schemas.openxmlformats.org/drawingml/2006/main">
              <a:ext uri="{FF2B5EF4-FFF2-40B4-BE49-F238E27FC236}">
                <a16:creationId xmlns:a16="http://schemas.microsoft.com/office/drawing/2014/main" id="{AF602AAD-4B57-45FC-AD36-8BCCFC8824D0}"/>
              </a:ext>
            </a:extLst>
          </p:cNvPr>
          <p:cNvSpPr>
            <a:spLocks xmlns:a="http://schemas.openxmlformats.org/drawingml/2006/main" noGrp="1"/>
          </p:cNvSpPr>
          <p:nvPr/>
        </p:nvSpPr>
        <p:spPr>
          <a:xfrm xmlns:a="http://schemas.openxmlformats.org/drawingml/2006/main">
            <a:off x="571500" y="29432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Có căn cứ để phân bổ nguồn lực</a:t>
            </a:r>
          </a:p>
        </p:txBody>
      </p:sp>
      <p:sp>
        <p:nvSpPr>
          <p:cNvPr id="6" name="text-5">
            <a:extLst xmlns:a="http://schemas.openxmlformats.org/drawingml/2006/main">
              <a:ext uri="{FF2B5EF4-FFF2-40B4-BE49-F238E27FC236}">
                <a16:creationId xmlns:a16="http://schemas.microsoft.com/office/drawing/2014/main" id="{F72DDCC9-B329-41F4-BA81-07C8121C37B9}"/>
              </a:ext>
            </a:extLst>
          </p:cNvPr>
          <p:cNvSpPr>
            <a:spLocks xmlns:a="http://schemas.openxmlformats.org/drawingml/2006/main" noGrp="1"/>
          </p:cNvSpPr>
          <p:nvPr/>
        </p:nvSpPr>
        <p:spPr>
          <a:xfrm xmlns:a="http://schemas.openxmlformats.org/drawingml/2006/main">
            <a:off x="571500" y="34004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So sánh nhu cầu giữa các khu vực và các khoảng thời gian trước khi quyết định điều động.</a:t>
            </a:r>
          </a:p>
        </p:txBody>
      </p:sp>
      <p:sp>
        <p:nvSpPr>
          <p:cNvPr id="7" name="text-6">
            <a:extLst xmlns:a="http://schemas.openxmlformats.org/drawingml/2006/main">
              <a:ext uri="{FF2B5EF4-FFF2-40B4-BE49-F238E27FC236}">
                <a16:creationId xmlns:a16="http://schemas.microsoft.com/office/drawing/2014/main" id="{92574577-B135-4AAF-B1A4-C7EBFFE916DF}"/>
              </a:ext>
            </a:extLst>
          </p:cNvPr>
          <p:cNvSpPr>
            <a:spLocks xmlns:a="http://schemas.openxmlformats.org/drawingml/2006/main" noGrp="1"/>
          </p:cNvSpPr>
          <p:nvPr/>
        </p:nvSpPr>
        <p:spPr>
          <a:xfrm xmlns:a="http://schemas.openxmlformats.org/drawingml/2006/main">
            <a:off x="571500" y="43529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Có cơ sở kiểm tra độ tin cậy</a:t>
            </a:r>
          </a:p>
        </p:txBody>
      </p:sp>
      <p:sp>
        <p:nvSpPr>
          <p:cNvPr id="8" name="text-7">
            <a:extLst xmlns:a="http://schemas.openxmlformats.org/drawingml/2006/main">
              <a:ext uri="{FF2B5EF4-FFF2-40B4-BE49-F238E27FC236}">
                <a16:creationId xmlns:a16="http://schemas.microsoft.com/office/drawing/2014/main" id="{0E842DB4-372C-47A0-ADFE-D9A25AD6EBBF}"/>
              </a:ext>
            </a:extLst>
          </p:cNvPr>
          <p:cNvSpPr>
            <a:spLocks xmlns:a="http://schemas.openxmlformats.org/drawingml/2006/main" noGrp="1"/>
          </p:cNvSpPr>
          <p:nvPr/>
        </p:nvSpPr>
        <p:spPr>
          <a:xfrm xmlns:a="http://schemas.openxmlformats.org/drawingml/2006/main">
            <a:off x="571500" y="4810125"/>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Đối chiếu dự báo với thực tế và nhận cảnh báo khi dữ liệu đầu vào thiếu hoặc đã cũ.</a:t>
            </a:r>
          </a:p>
        </p:txBody>
      </p:sp>
      <p:sp>
        <p:nvSpPr>
          <p:cNvPr id="9" name="text-8">
            <a:extLst xmlns:a="http://schemas.openxmlformats.org/drawingml/2006/main">
              <a:ext uri="{FF2B5EF4-FFF2-40B4-BE49-F238E27FC236}">
                <a16:creationId xmlns:a16="http://schemas.microsoft.com/office/drawing/2014/main" id="{C8EF683B-FFA1-4331-A9C4-FE46544E5DFA}"/>
              </a:ext>
            </a:extLst>
          </p:cNvPr>
          <p:cNvSpPr>
            <a:spLocks xmlns:a="http://schemas.openxmlformats.org/drawingml/2006/main" noGrp="1"/>
          </p:cNvSpPr>
          <p:nvPr/>
        </p:nvSpPr>
        <p:spPr>
          <a:xfrm xmlns:a="http://schemas.openxmlformats.org/drawingml/2006/main">
            <a:off x="571500" y="5924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516570"/>
                </a:solidFill>
                <a:latin typeface="DejaVu Sans"/>
                <a:ea typeface="DejaVu Sans"/>
                <a:cs typeface="DejaVu Sans"/>
              </a:defRPr>
            </a:defPPr>
          </a:lstStyle>
          <a:p xmlns:a="http://schemas.openxmlformats.org/drawingml/2006/main">
            <a:pPr>
              <a:defRPr sz="1650" b="0">
                <a:solidFill>
                  <a:srgbClr val="516570"/>
                </a:solidFill>
                <a:latin typeface="DejaVu Sans"/>
                <a:ea typeface="DejaVu Sans"/>
                <a:cs typeface="DejaVu Sans"/>
              </a:defRPr>
            </a:pPr>
            <a:r>
              <a:rPr sz="1650" b="0">
                <a:solidFill>
                  <a:srgbClr val="516570"/>
                </a:solidFill>
                <a:latin typeface="DejaVu Sans"/>
                <a:ea typeface="DejaVu Sans"/>
                <a:cs typeface="DejaVu Sans"/>
              </a:rPr>
              <a:t>Giảm chờ xe, giảm chạy rỗng và tăng hiệu quả là lợi ích kỳ vọng, chưa có phép đo kinh doanh.</a:t>
            </a:r>
          </a:p>
        </p:txBody>
      </p:sp>
    </p:spTree>
    <p:extLst>
      <p:ext uri="{BB962C8B-B14F-4D97-AF65-F5344CB8AC3E}">
        <p14:creationId xmlns:p14="http://schemas.microsoft.com/office/powerpoint/2010/main" val="646813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AF791D4-8E67-4316-AF2C-52145AB41F35}"/>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Kết quả chính trên dữ liệu giả lập</a:t>
            </a:r>
          </a:p>
        </p:txBody>
      </p:sp>
      <p:sp>
        <p:nvSpPr>
          <p:cNvPr id="2" name="text-1">
            <a:extLst xmlns:a="http://schemas.openxmlformats.org/drawingml/2006/main">
              <a:ext uri="{FF2B5EF4-FFF2-40B4-BE49-F238E27FC236}">
                <a16:creationId xmlns:a16="http://schemas.microsoft.com/office/drawing/2014/main" id="{97B4C793-7D69-4E87-93F9-01290D97615D}"/>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05</a:t>
            </a:r>
          </a:p>
        </p:txBody>
      </p:sp>
      <p:sp>
        <p:nvSpPr>
          <p:cNvPr id="3" name="text-2">
            <a:extLst xmlns:a="http://schemas.openxmlformats.org/drawingml/2006/main">
              <a:ext uri="{FF2B5EF4-FFF2-40B4-BE49-F238E27FC236}">
                <a16:creationId xmlns:a16="http://schemas.microsoft.com/office/drawing/2014/main" id="{F4BD4BAA-5C9C-45F8-8E03-505A7C1454D7}"/>
              </a:ext>
            </a:extLst>
          </p:cNvPr>
          <p:cNvSpPr>
            <a:spLocks xmlns:a="http://schemas.openxmlformats.org/drawingml/2006/main" noGrp="1"/>
          </p:cNvSpPr>
          <p:nvPr/>
        </p:nvSpPr>
        <p:spPr>
          <a:xfrm xmlns:a="http://schemas.openxmlformats.org/drawingml/2006/main">
            <a:off x="571500" y="1476375"/>
            <a:ext cx="581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350" b="1">
                <a:solidFill>
                  <a:srgbClr val="007F80"/>
                </a:solidFill>
                <a:latin typeface="DejaVu Sans"/>
                <a:ea typeface="DejaVu Sans"/>
                <a:cs typeface="DejaVu Sans"/>
              </a:defRPr>
            </a:defPPr>
          </a:lstStyle>
          <a:p xmlns:a="http://schemas.openxmlformats.org/drawingml/2006/main">
            <a:pPr>
              <a:defRPr sz="4350" b="1">
                <a:solidFill>
                  <a:srgbClr val="007F80"/>
                </a:solidFill>
                <a:latin typeface="DejaVu Sans"/>
                <a:ea typeface="DejaVu Sans"/>
                <a:cs typeface="DejaVu Sans"/>
              </a:defRPr>
            </a:pPr>
            <a:r>
              <a:rPr sz="4350" b="1">
                <a:solidFill>
                  <a:srgbClr val="007F80"/>
                </a:solidFill>
                <a:latin typeface="DejaVu Sans"/>
                <a:ea typeface="DejaVu Sans"/>
                <a:cs typeface="DejaVu Sans"/>
              </a:rPr>
              <a:t>10,7–14,4%</a:t>
            </a:r>
          </a:p>
        </p:txBody>
      </p:sp>
      <p:sp>
        <p:nvSpPr>
          <p:cNvPr id="4" name="text-3">
            <a:extLst xmlns:a="http://schemas.openxmlformats.org/drawingml/2006/main">
              <a:ext uri="{FF2B5EF4-FFF2-40B4-BE49-F238E27FC236}">
                <a16:creationId xmlns:a16="http://schemas.microsoft.com/office/drawing/2014/main" id="{33F20D8C-B5B4-4FE6-A9D5-5ACA7C8D64D4}"/>
              </a:ext>
            </a:extLst>
          </p:cNvPr>
          <p:cNvSpPr>
            <a:spLocks xmlns:a="http://schemas.openxmlformats.org/drawingml/2006/main" noGrp="1"/>
          </p:cNvSpPr>
          <p:nvPr/>
        </p:nvSpPr>
        <p:spPr>
          <a:xfrm xmlns:a="http://schemas.openxmlformats.org/drawingml/2006/main">
            <a:off x="619125" y="23907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152F3B"/>
                </a:solidFill>
                <a:latin typeface="DejaVu Sans"/>
                <a:ea typeface="DejaVu Sans"/>
                <a:cs typeface="DejaVu Sans"/>
              </a:defRPr>
            </a:defPPr>
          </a:lstStyle>
          <a:p xmlns:a="http://schemas.openxmlformats.org/drawingml/2006/main">
            <a:pPr>
              <a:defRPr sz="2250" b="0">
                <a:solidFill>
                  <a:srgbClr val="152F3B"/>
                </a:solidFill>
                <a:latin typeface="DejaVu Sans"/>
                <a:ea typeface="DejaVu Sans"/>
                <a:cs typeface="DejaVu Sans"/>
              </a:defRPr>
            </a:pPr>
            <a:r>
              <a:rPr sz="2250" b="0">
                <a:solidFill>
                  <a:srgbClr val="152F3B"/>
                </a:solidFill>
                <a:latin typeface="DejaVu Sans"/>
                <a:ea typeface="DejaVu Sans"/>
                <a:cs typeface="DejaVu Sans"/>
              </a:rPr>
              <a:t>Sai số tổng hợp trên 14 ngày mới</a:t>
            </a:r>
          </a:p>
          <a:p xmlns:a="http://schemas.openxmlformats.org/drawingml/2006/main">
            <a:pPr>
              <a:defRPr sz="2250" b="0">
                <a:solidFill>
                  <a:srgbClr val="152F3B"/>
                </a:solidFill>
                <a:latin typeface="DejaVu Sans"/>
                <a:ea typeface="DejaVu Sans"/>
                <a:cs typeface="DejaVu Sans"/>
              </a:defRPr>
            </a:pPr>
            <a:r>
              <a:rPr sz="2250" b="0">
                <a:solidFill>
                  <a:srgbClr val="152F3B"/>
                </a:solidFill>
                <a:latin typeface="DejaVu Sans"/>
                <a:ea typeface="DejaVu Sans"/>
                <a:cs typeface="DejaVu Sans"/>
              </a:rPr>
              <a:t>Mục tiêu thử nghiệm: dưới 18%</a:t>
            </a:r>
          </a:p>
        </p:txBody>
      </p:sp>
      <p:graphicFrame>
        <p:nvGraphicFramePr>
          <p:cNvPr id="5" name="">
            <a:extLst xmlns:a="http://schemas.openxmlformats.org/drawingml/2006/main">
              <a:ext uri="{FF2B5EF4-FFF2-40B4-BE49-F238E27FC236}">
                <a16:creationId xmlns:a16="http://schemas.microsoft.com/office/drawing/2014/main" id="{BCED1EF7-AA0B-4751-91FC-60F3988D13B4}"/>
              </a:ext>
            </a:extLst>
          </p:cNvPr>
          <p:cNvGraphicFramePr/>
          <p:nvPr/>
        </p:nvGraphicFramePr>
        <p:xfrm>
          <a:off xmlns:a="http://schemas.openxmlformats.org/drawingml/2006/main" x="571500" y="3619500"/>
          <a:ext xmlns:a="http://schemas.openxmlformats.org/drawingml/2006/main" cx="11049000" cy="1866900"/>
        </p:xfrm>
        <a:graphic xmlns:a="http://schemas.openxmlformats.org/drawingml/2006/main">
          <a:graphicData uri="http://schemas.openxmlformats.org/drawingml/2006/table">
            <a:tbl>
              <a:tblPr/>
              <a:tblGrid>
                <a:gridCol w="3857625"/>
                <a:gridCol w="7191375"/>
              </a:tblGrid>
              <a:tr h="466725">
                <a:tc>
                  <a:txBody>
                    <a:bodyPr/>
                    <a:lstStyle/>
                    <a:p>
                      <a:r>
                        <a:rPr sz="1875" b="1">
                          <a:solidFill>
                            <a:srgbClr val="FFFFFF"/>
                          </a:solidFill>
                          <a:latin typeface="DejaVu Sans"/>
                          <a:ea typeface="DejaVu Sans"/>
                          <a:cs typeface="DejaVu Sans"/>
                        </a:rPr>
                        <a:t>Kết quả</a:t>
                      </a:r>
                    </a:p>
                  </a:txBody>
                  <a:tcPr marL="91440" marR="91440" marT="45720" marB="45720">
                    <a:lnL w="9525">
                      <a:solidFill>
                        <a:srgbClr val="D1DFE0"/>
                      </a:solidFill>
                      <a:prstDash val="solid"/>
                    </a:lnL>
                    <a:lnR w="9525">
                      <a:solidFill>
                        <a:srgbClr val="D1DFE0"/>
                      </a:solidFill>
                      <a:prstDash val="solid"/>
                    </a:lnR>
                    <a:lnT w="9525">
                      <a:solidFill>
                        <a:srgbClr val="D1DFE0"/>
                      </a:solidFill>
                      <a:prstDash val="solid"/>
                    </a:lnT>
                    <a:lnB w="9525">
                      <a:solidFill>
                        <a:srgbClr val="D1DFE0"/>
                      </a:solidFill>
                      <a:prstDash val="solid"/>
                    </a:lnB>
                    <a:solidFill>
                      <a:srgbClr val="152F3B"/>
                    </a:solidFill>
                  </a:tcPr>
                </a:tc>
                <a:tc>
                  <a:txBody>
                    <a:bodyPr/>
                    <a:lstStyle/>
                    <a:p>
                      <a:r>
                        <a:rPr sz="1875" b="1">
                          <a:solidFill>
                            <a:srgbClr val="FFFFFF"/>
                          </a:solidFill>
                          <a:latin typeface="DejaVu Sans"/>
                          <a:ea typeface="DejaVu Sans"/>
                          <a:cs typeface="DejaVu Sans"/>
                        </a:rPr>
                        <a:t>Ý nghĩa</a:t>
                      </a:r>
                    </a:p>
                  </a:txBody>
                  <a:tcPr marL="91440" marR="91440" marT="45720" marB="45720">
                    <a:lnR w="9525">
                      <a:solidFill>
                        <a:srgbClr val="D1DFE0"/>
                      </a:solidFill>
                      <a:prstDash val="solid"/>
                    </a:lnR>
                    <a:lnT w="9525">
                      <a:solidFill>
                        <a:srgbClr val="D1DFE0"/>
                      </a:solidFill>
                      <a:prstDash val="solid"/>
                    </a:lnT>
                    <a:lnB w="9525">
                      <a:solidFill>
                        <a:srgbClr val="D1DFE0"/>
                      </a:solidFill>
                      <a:prstDash val="solid"/>
                    </a:lnB>
                    <a:solidFill>
                      <a:srgbClr val="152F3B"/>
                    </a:solidFill>
                  </a:tcPr>
                </a:tc>
              </a:tr>
              <a:tr h="466725">
                <a:tc>
                  <a:txBody>
                    <a:bodyPr/>
                    <a:lstStyle/>
                    <a:p>
                      <a:r>
                        <a:rPr sz="1875" b="0">
                          <a:solidFill>
                            <a:srgbClr val="152F3B"/>
                          </a:solidFill>
                          <a:latin typeface="DejaVu Sans"/>
                          <a:ea typeface="DejaVu Sans"/>
                          <a:cs typeface="DejaVu Sans"/>
                        </a:rPr>
                        <a:t>So với kiểm tra lịch sử</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FFFFFF"/>
                    </a:solidFill>
                  </a:tcPr>
                </a:tc>
                <a:tc>
                  <a:txBody>
                    <a:bodyPr/>
                    <a:lstStyle/>
                    <a:p>
                      <a:r>
                        <a:rPr sz="1875" b="0">
                          <a:solidFill>
                            <a:srgbClr val="152F3B"/>
                          </a:solidFill>
                          <a:latin typeface="DejaVu Sans"/>
                          <a:ea typeface="DejaVu Sans"/>
                          <a:cs typeface="DejaVu Sans"/>
                        </a:rPr>
                        <a:t>Sai số chỉ tăng 0,034–0,218 điểm phần trăm</a:t>
                      </a:r>
                    </a:p>
                  </a:txBody>
                  <a:tcPr marL="91440" marR="91440" marT="45720" marB="45720">
                    <a:lnR w="9525">
                      <a:solidFill>
                        <a:srgbClr val="D1DFE0"/>
                      </a:solidFill>
                      <a:prstDash val="solid"/>
                    </a:lnR>
                    <a:lnB w="9525">
                      <a:solidFill>
                        <a:srgbClr val="D1DFE0"/>
                      </a:solidFill>
                      <a:prstDash val="solid"/>
                    </a:lnB>
                    <a:solidFill>
                      <a:srgbClr val="FFFFFF"/>
                    </a:solidFill>
                  </a:tcPr>
                </a:tc>
              </a:tr>
              <a:tr h="466725">
                <a:tc>
                  <a:txBody>
                    <a:bodyPr/>
                    <a:lstStyle/>
                    <a:p>
                      <a:r>
                        <a:rPr sz="1875" b="0">
                          <a:solidFill>
                            <a:srgbClr val="152F3B"/>
                          </a:solidFill>
                          <a:latin typeface="DejaVu Sans"/>
                          <a:ea typeface="DejaVu Sans"/>
                          <a:cs typeface="DejaVu Sans"/>
                        </a:rPr>
                        <a:t>So với lấy nhu cầu gần nhất</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EDF4F4"/>
                    </a:solidFill>
                  </a:tcPr>
                </a:tc>
                <a:tc>
                  <a:txBody>
                    <a:bodyPr/>
                    <a:lstStyle/>
                    <a:p>
                      <a:r>
                        <a:rPr sz="1875" b="0">
                          <a:solidFill>
                            <a:srgbClr val="152F3B"/>
                          </a:solidFill>
                          <a:latin typeface="DejaVu Sans"/>
                          <a:ea typeface="DejaVu Sans"/>
                          <a:cs typeface="DejaVu Sans"/>
                        </a:rPr>
                        <a:t>Lỗi thấp hơn rõ rệt, nhất là dự báo 30 và 60 phút</a:t>
                      </a:r>
                    </a:p>
                  </a:txBody>
                  <a:tcPr marL="91440" marR="91440" marT="45720" marB="45720">
                    <a:lnR w="9525">
                      <a:solidFill>
                        <a:srgbClr val="D1DFE0"/>
                      </a:solidFill>
                      <a:prstDash val="solid"/>
                    </a:lnR>
                    <a:lnB w="9525">
                      <a:solidFill>
                        <a:srgbClr val="D1DFE0"/>
                      </a:solidFill>
                      <a:prstDash val="solid"/>
                    </a:lnB>
                    <a:solidFill>
                      <a:srgbClr val="EDF4F4"/>
                    </a:solidFill>
                  </a:tcPr>
                </a:tc>
              </a:tr>
              <a:tr h="466725">
                <a:tc>
                  <a:txBody>
                    <a:bodyPr/>
                    <a:lstStyle/>
                    <a:p>
                      <a:r>
                        <a:rPr sz="1875" b="0">
                          <a:solidFill>
                            <a:srgbClr val="152F3B"/>
                          </a:solidFill>
                          <a:latin typeface="DejaVu Sans"/>
                          <a:ea typeface="DejaVu Sans"/>
                          <a:cs typeface="DejaVu Sans"/>
                        </a:rPr>
                        <a:t>Quy mô thử nghiệm</a:t>
                      </a:r>
                    </a:p>
                  </a:txBody>
                  <a:tcPr marL="91440" marR="91440" marT="45720" marB="45720">
                    <a:lnL w="9525">
                      <a:solidFill>
                        <a:srgbClr val="D1DFE0"/>
                      </a:solidFill>
                      <a:prstDash val="solid"/>
                    </a:lnL>
                    <a:lnR w="9525">
                      <a:solidFill>
                        <a:srgbClr val="D1DFE0"/>
                      </a:solidFill>
                      <a:prstDash val="solid"/>
                    </a:lnR>
                    <a:lnB w="9525">
                      <a:solidFill>
                        <a:srgbClr val="D1DFE0"/>
                      </a:solidFill>
                      <a:prstDash val="solid"/>
                    </a:lnB>
                    <a:solidFill>
                      <a:srgbClr val="FFFFFF"/>
                    </a:solidFill>
                  </a:tcPr>
                </a:tc>
                <a:tc>
                  <a:txBody>
                    <a:bodyPr/>
                    <a:lstStyle/>
                    <a:p>
                      <a:r>
                        <a:rPr sz="1875" b="0">
                          <a:solidFill>
                            <a:srgbClr val="152F3B"/>
                          </a:solidFill>
                          <a:latin typeface="DejaVu Sans"/>
                          <a:ea typeface="DejaVu Sans"/>
                          <a:cs typeface="DejaVu Sans"/>
                        </a:rPr>
                        <a:t>5,4 triệu dòng lịch sử, danh sách 217 khu vực</a:t>
                      </a:r>
                    </a:p>
                  </a:txBody>
                  <a:tcPr marL="91440" marR="91440" marT="45720" marB="45720">
                    <a:lnR w="9525">
                      <a:solidFill>
                        <a:srgbClr val="D1DFE0"/>
                      </a:solidFill>
                      <a:prstDash val="solid"/>
                    </a:lnR>
                    <a:lnB w="9525">
                      <a:solidFill>
                        <a:srgbClr val="D1DFE0"/>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744CBD5B-F7FE-4C96-B3C8-7DAFEF794C40}"/>
              </a:ext>
            </a:extLst>
          </p:cNvPr>
          <p:cNvSpPr>
            <a:spLocks xmlns:a="http://schemas.openxmlformats.org/drawingml/2006/main" noGrp="1"/>
          </p:cNvSpPr>
          <p:nvPr/>
        </p:nvSpPr>
        <p:spPr>
          <a:xfrm xmlns:a="http://schemas.openxmlformats.org/drawingml/2006/main">
            <a:off x="571500" y="5857875"/>
            <a:ext cx="1085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516570"/>
                </a:solidFill>
                <a:latin typeface="DejaVu Sans"/>
                <a:ea typeface="DejaVu Sans"/>
                <a:cs typeface="DejaVu Sans"/>
              </a:defRPr>
            </a:defPPr>
          </a:lstStyle>
          <a:p xmlns:a="http://schemas.openxmlformats.org/drawingml/2006/main">
            <a:pPr>
              <a:defRPr sz="1725" b="0">
                <a:solidFill>
                  <a:srgbClr val="516570"/>
                </a:solidFill>
                <a:latin typeface="DejaVu Sans"/>
                <a:ea typeface="DejaVu Sans"/>
                <a:cs typeface="DejaVu Sans"/>
              </a:defRPr>
            </a:pPr>
            <a:r>
              <a:rPr sz="1725" b="0">
                <a:solidFill>
                  <a:srgbClr val="516570"/>
                </a:solidFill>
                <a:latin typeface="DejaVu Sans"/>
                <a:ea typeface="DejaVu Sans"/>
                <a:cs typeface="DejaVu Sans"/>
              </a:rPr>
              <a:t>Sai số tổng hợp = tổng sai lệch tuyệt đối / tổng nhu cầu. Không phải tỷ lệ số dòng dự đoán sai.</a:t>
            </a:r>
          </a:p>
        </p:txBody>
      </p:sp>
    </p:spTree>
    <p:extLst>
      <p:ext uri="{BB962C8B-B14F-4D97-AF65-F5344CB8AC3E}">
        <p14:creationId xmlns:p14="http://schemas.microsoft.com/office/powerpoint/2010/main" val="2463514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436B2C9-9337-45AA-BEED-7D5BC59340C9}"/>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Dự báo theo được trend nhưng chưa tăng đủ</a:t>
            </a:r>
          </a:p>
        </p:txBody>
      </p:sp>
      <p:sp>
        <p:nvSpPr>
          <p:cNvPr id="2" name="text-1">
            <a:extLst xmlns:a="http://schemas.openxmlformats.org/drawingml/2006/main">
              <a:ext uri="{FF2B5EF4-FFF2-40B4-BE49-F238E27FC236}">
                <a16:creationId xmlns:a16="http://schemas.microsoft.com/office/drawing/2014/main" id="{686575EA-6D20-4B85-907F-561F24640127}"/>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06</a:t>
            </a:r>
          </a:p>
        </p:txBody>
      </p:sp>
      <p:graphicFrame>
        <p:nvGraphicFramePr>
          <p:cNvPr id="3" name="Chart">
            <a:extLst xmlns:a="http://schemas.openxmlformats.org/drawingml/2006/main">
              <a:ext uri="{FF2B5EF4-FFF2-40B4-BE49-F238E27FC236}">
                <a16:creationId xmlns:a16="http://schemas.microsoft.com/office/drawing/2014/main" id="{2AAA42AF-8EDA-4C6B-B0D6-032F667924D0}"/>
              </a:ext>
            </a:extLst>
          </p:cNvPr>
          <p:cNvGraphicFramePr/>
          <p:nvPr/>
        </p:nvGraphicFramePr>
        <p:xfrm>
          <a:off xmlns:a="http://schemas.openxmlformats.org/drawingml/2006/main" x="571500" y="1581150"/>
          <a:ext xmlns:a="http://schemas.openxmlformats.org/drawingml/2006/main" cx="11049000" cy="3286125"/>
        </p:xfrm>
        <a:graphic xmlns:a="http://schemas.openxmlformats.org/drawingml/2006/main">
          <a:graphicData uri="http://schemas.openxmlformats.org/drawingml/2006/chart">
            <c:chart xmlns:r="http://schemas.openxmlformats.org/officeDocument/2006/relationships" xmlns:c="http://schemas.openxmlformats.org/drawingml/2006/chart" r:id="Rfef3d405a8fc4cea"/>
          </a:graphicData>
        </a:graphic>
      </p:graphicFrame>
      <p:sp>
        <p:nvSpPr>
          <p:cNvPr id="4" name="text-2">
            <a:extLst xmlns:a="http://schemas.openxmlformats.org/drawingml/2006/main">
              <a:ext uri="{FF2B5EF4-FFF2-40B4-BE49-F238E27FC236}">
                <a16:creationId xmlns:a16="http://schemas.microsoft.com/office/drawing/2014/main" id="{4D0111BB-1885-453C-A3F0-93743A988A96}"/>
              </a:ext>
            </a:extLst>
          </p:cNvPr>
          <p:cNvSpPr>
            <a:spLocks xmlns:a="http://schemas.openxmlformats.org/drawingml/2006/main" noGrp="1"/>
          </p:cNvSpPr>
          <p:nvPr/>
        </p:nvSpPr>
        <p:spPr>
          <a:xfrm xmlns:a="http://schemas.openxmlformats.org/drawingml/2006/main">
            <a:off x="571500" y="5038725"/>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516570"/>
                </a:solidFill>
                <a:latin typeface="DejaVu Sans"/>
                <a:ea typeface="DejaVu Sans"/>
                <a:cs typeface="DejaVu Sans"/>
              </a:defRPr>
            </a:defPPr>
          </a:lstStyle>
          <a:p xmlns:a="http://schemas.openxmlformats.org/drawingml/2006/main">
            <a:pPr>
              <a:defRPr sz="1800" b="0">
                <a:solidFill>
                  <a:srgbClr val="516570"/>
                </a:solidFill>
                <a:latin typeface="DejaVu Sans"/>
                <a:ea typeface="DejaVu Sans"/>
                <a:cs typeface="DejaVu Sans"/>
              </a:defRPr>
            </a:pPr>
            <a:r>
              <a:rPr sz="1800" b="0">
                <a:solidFill>
                  <a:srgbClr val="516570"/>
                </a:solidFill>
                <a:latin typeface="DejaVu Sans"/>
                <a:ea typeface="DejaVu Sans"/>
                <a:cs typeface="DejaVu Sans"/>
              </a:rPr>
              <a:t>So sánh 7 ngày cuối với 7 ngày đầu trên tập kiểm tra mới.</a:t>
            </a:r>
          </a:p>
        </p:txBody>
      </p:sp>
      <p:sp>
        <p:nvSpPr>
          <p:cNvPr id="5" name="text-3">
            <a:extLst xmlns:a="http://schemas.openxmlformats.org/drawingml/2006/main">
              <a:ext uri="{FF2B5EF4-FFF2-40B4-BE49-F238E27FC236}">
                <a16:creationId xmlns:a16="http://schemas.microsoft.com/office/drawing/2014/main" id="{BD967997-31E8-4BB0-8D86-F730E8C172B5}"/>
              </a:ext>
            </a:extLst>
          </p:cNvPr>
          <p:cNvSpPr>
            <a:spLocks xmlns:a="http://schemas.openxmlformats.org/drawingml/2006/main" noGrp="1"/>
          </p:cNvSpPr>
          <p:nvPr/>
        </p:nvSpPr>
        <p:spPr>
          <a:xfrm xmlns:a="http://schemas.openxmlformats.org/drawingml/2006/main">
            <a:off x="571500" y="5667375"/>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7F80"/>
                </a:solidFill>
                <a:latin typeface="DejaVu Sans"/>
                <a:ea typeface="DejaVu Sans"/>
                <a:cs typeface="DejaVu Sans"/>
              </a:defRPr>
            </a:defPPr>
          </a:lstStyle>
          <a:p xmlns:a="http://schemas.openxmlformats.org/drawingml/2006/main">
            <a:pPr>
              <a:defRPr sz="1950" b="1">
                <a:solidFill>
                  <a:srgbClr val="007F80"/>
                </a:solidFill>
                <a:latin typeface="DejaVu Sans"/>
                <a:ea typeface="DejaVu Sans"/>
                <a:cs typeface="DejaVu Sans"/>
              </a:defRPr>
            </a:pPr>
            <a:r>
              <a:rPr sz="1950" b="1">
                <a:solidFill>
                  <a:srgbClr val="007F80"/>
                </a:solidFill>
                <a:latin typeface="DejaVu Sans"/>
                <a:ea typeface="DejaVu Sans"/>
                <a:cs typeface="DejaVu Sans"/>
              </a:rPr>
              <a:t>Mô hình theo được hướng tăng giảm. Mức tăng còn thiếu, đặc biệt ở H60. Biến động đột ngột vẫn là hạn chế.</a:t>
            </a:r>
          </a:p>
        </p:txBody>
      </p:sp>
    </p:spTree>
    <p:extLst>
      <p:ext uri="{BB962C8B-B14F-4D97-AF65-F5344CB8AC3E}">
        <p14:creationId xmlns:p14="http://schemas.microsoft.com/office/powerpoint/2010/main" val="9116042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FF02DEA-BD0E-4AAE-AEF9-AE2CC50229B2}"/>
              </a:ext>
            </a:extLst>
          </p:cNvPr>
          <p:cNvSpPr>
            <a:spLocks xmlns:a="http://schemas.openxmlformats.org/drawingml/2006/main" noGrp="1"/>
          </p:cNvSpPr>
          <p:nvPr/>
        </p:nvSpPr>
        <p:spPr>
          <a:xfrm xmlns:a="http://schemas.openxmlformats.org/drawingml/2006/main">
            <a:off x="571500" y="400050"/>
            <a:ext cx="1104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52F3B"/>
                </a:solidFill>
                <a:latin typeface="DejaVu Sans"/>
                <a:ea typeface="DejaVu Sans"/>
                <a:cs typeface="DejaVu Sans"/>
              </a:defRPr>
            </a:defPPr>
          </a:lstStyle>
          <a:p xmlns:a="http://schemas.openxmlformats.org/drawingml/2006/main">
            <a:pPr>
              <a:defRPr sz="3150" b="1">
                <a:solidFill>
                  <a:srgbClr val="152F3B"/>
                </a:solidFill>
                <a:latin typeface="DejaVu Sans"/>
                <a:ea typeface="DejaVu Sans"/>
                <a:cs typeface="DejaVu Sans"/>
              </a:defRPr>
            </a:pPr>
            <a:r>
              <a:rPr sz="3150" b="1">
                <a:solidFill>
                  <a:srgbClr val="152F3B"/>
                </a:solidFill>
                <a:latin typeface="DejaVu Sans"/>
                <a:ea typeface="DejaVu Sans"/>
                <a:cs typeface="DejaVu Sans"/>
              </a:rPr>
              <a:t>Sản phẩm hiện có và kết luận</a:t>
            </a:r>
          </a:p>
        </p:txBody>
      </p:sp>
      <p:sp>
        <p:nvSpPr>
          <p:cNvPr id="2" name="text-1">
            <a:extLst xmlns:a="http://schemas.openxmlformats.org/drawingml/2006/main">
              <a:ext uri="{FF2B5EF4-FFF2-40B4-BE49-F238E27FC236}">
                <a16:creationId xmlns:a16="http://schemas.microsoft.com/office/drawing/2014/main" id="{EF62A35E-A7B5-40CF-B7BC-CB2F26CF3871}"/>
              </a:ext>
            </a:extLst>
          </p:cNvPr>
          <p:cNvSpPr>
            <a:spLocks xmlns:a="http://schemas.openxmlformats.org/drawingml/2006/main" noGrp="1"/>
          </p:cNvSpPr>
          <p:nvPr/>
        </p:nvSpPr>
        <p:spPr>
          <a:xfrm xmlns:a="http://schemas.openxmlformats.org/drawingml/2006/main">
            <a:off x="11049000" y="64484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00" b="0">
                <a:solidFill>
                  <a:srgbClr val="516570"/>
                </a:solidFill>
                <a:latin typeface="DejaVu Sans"/>
                <a:ea typeface="DejaVu Sans"/>
                <a:cs typeface="DejaVu Sans"/>
              </a:defRPr>
            </a:defPPr>
          </a:lstStyle>
          <a:p xmlns:a="http://schemas.openxmlformats.org/drawingml/2006/main">
            <a:pPr>
              <a:defRPr sz="1200" b="0">
                <a:solidFill>
                  <a:srgbClr val="516570"/>
                </a:solidFill>
                <a:latin typeface="DejaVu Sans"/>
                <a:ea typeface="DejaVu Sans"/>
                <a:cs typeface="DejaVu Sans"/>
              </a:defRPr>
            </a:pPr>
            <a:r>
              <a:rPr sz="1200" b="0">
                <a:solidFill>
                  <a:srgbClr val="516570"/>
                </a:solidFill>
                <a:latin typeface="DejaVu Sans"/>
                <a:ea typeface="DejaVu Sans"/>
                <a:cs typeface="DejaVu Sans"/>
              </a:rPr>
              <a:t>07</a:t>
            </a:r>
          </a:p>
        </p:txBody>
      </p:sp>
      <p:sp>
        <p:nvSpPr>
          <p:cNvPr id="3" name="text-2">
            <a:extLst xmlns:a="http://schemas.openxmlformats.org/drawingml/2006/main">
              <a:ext uri="{FF2B5EF4-FFF2-40B4-BE49-F238E27FC236}">
                <a16:creationId xmlns:a16="http://schemas.microsoft.com/office/drawing/2014/main" id="{F97D2C79-EE88-4DF7-8A6B-5234042B5DE8}"/>
              </a:ext>
            </a:extLst>
          </p:cNvPr>
          <p:cNvSpPr>
            <a:spLocks xmlns:a="http://schemas.openxmlformats.org/drawingml/2006/main" noGrp="1"/>
          </p:cNvSpPr>
          <p:nvPr/>
        </p:nvSpPr>
        <p:spPr>
          <a:xfrm xmlns:a="http://schemas.openxmlformats.org/drawingml/2006/main">
            <a:off x="571500" y="15240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Đã có luồng dự báo và theo dõi</a:t>
            </a:r>
          </a:p>
        </p:txBody>
      </p:sp>
      <p:sp>
        <p:nvSpPr>
          <p:cNvPr id="4" name="text-3">
            <a:extLst xmlns:a="http://schemas.openxmlformats.org/drawingml/2006/main">
              <a:ext uri="{FF2B5EF4-FFF2-40B4-BE49-F238E27FC236}">
                <a16:creationId xmlns:a16="http://schemas.microsoft.com/office/drawing/2014/main" id="{2B520A43-8D43-44B4-BD25-E17E33983EF9}"/>
              </a:ext>
            </a:extLst>
          </p:cNvPr>
          <p:cNvSpPr>
            <a:spLocks xmlns:a="http://schemas.openxmlformats.org/drawingml/2006/main" noGrp="1"/>
          </p:cNvSpPr>
          <p:nvPr/>
        </p:nvSpPr>
        <p:spPr>
          <a:xfrm xmlns:a="http://schemas.openxmlformats.org/drawingml/2006/main">
            <a:off x="571500" y="198120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Dự báo định kỳ, lưu kết quả, cung cấp API và dashboard. Theo dõi sai số, đầu vào và phân bố dự báo.</a:t>
            </a:r>
          </a:p>
        </p:txBody>
      </p:sp>
      <p:sp>
        <p:nvSpPr>
          <p:cNvPr id="5" name="text-4">
            <a:extLst xmlns:a="http://schemas.openxmlformats.org/drawingml/2006/main">
              <a:ext uri="{FF2B5EF4-FFF2-40B4-BE49-F238E27FC236}">
                <a16:creationId xmlns:a16="http://schemas.microsoft.com/office/drawing/2014/main" id="{539AFD5A-9828-457F-BC7C-EA54060FAE7A}"/>
              </a:ext>
            </a:extLst>
          </p:cNvPr>
          <p:cNvSpPr>
            <a:spLocks xmlns:a="http://schemas.openxmlformats.org/drawingml/2006/main" noGrp="1"/>
          </p:cNvSpPr>
          <p:nvPr/>
        </p:nvSpPr>
        <p:spPr>
          <a:xfrm xmlns:a="http://schemas.openxmlformats.org/drawingml/2006/main">
            <a:off x="571500" y="30099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Kết quả hỗ trợ giữ phiên bản hiện tại</a:t>
            </a:r>
          </a:p>
        </p:txBody>
      </p:sp>
      <p:sp>
        <p:nvSpPr>
          <p:cNvPr id="6" name="text-5">
            <a:extLst xmlns:a="http://schemas.openxmlformats.org/drawingml/2006/main">
              <a:ext uri="{FF2B5EF4-FFF2-40B4-BE49-F238E27FC236}">
                <a16:creationId xmlns:a16="http://schemas.microsoft.com/office/drawing/2014/main" id="{358404C1-93BF-4A62-A95C-2433F430ADC6}"/>
              </a:ext>
            </a:extLst>
          </p:cNvPr>
          <p:cNvSpPr>
            <a:spLocks xmlns:a="http://schemas.openxmlformats.org/drawingml/2006/main" noGrp="1"/>
          </p:cNvSpPr>
          <p:nvPr/>
        </p:nvSpPr>
        <p:spPr>
          <a:xfrm xmlns:a="http://schemas.openxmlformats.org/drawingml/2006/main">
            <a:off x="571500" y="346710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Chất lượng ổn định trên 14 ngày giả lập mới. Giữ dự báo gốc, không cộng bù đồng loạt.</a:t>
            </a:r>
          </a:p>
        </p:txBody>
      </p:sp>
      <p:sp>
        <p:nvSpPr>
          <p:cNvPr id="7" name="text-6">
            <a:extLst xmlns:a="http://schemas.openxmlformats.org/drawingml/2006/main">
              <a:ext uri="{FF2B5EF4-FFF2-40B4-BE49-F238E27FC236}">
                <a16:creationId xmlns:a16="http://schemas.microsoft.com/office/drawing/2014/main" id="{67336900-2FA8-436A-9DFC-9E44F4D22AAC}"/>
              </a:ext>
            </a:extLst>
          </p:cNvPr>
          <p:cNvSpPr>
            <a:spLocks xmlns:a="http://schemas.openxmlformats.org/drawingml/2006/main" noGrp="1"/>
          </p:cNvSpPr>
          <p:nvPr/>
        </p:nvSpPr>
        <p:spPr>
          <a:xfrm xmlns:a="http://schemas.openxmlformats.org/drawingml/2006/main">
            <a:off x="571500" y="44958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007F80"/>
                </a:solidFill>
                <a:latin typeface="DejaVu Sans"/>
                <a:ea typeface="DejaVu Sans"/>
                <a:cs typeface="DejaVu Sans"/>
              </a:defRPr>
            </a:defPPr>
          </a:lstStyle>
          <a:p xmlns:a="http://schemas.openxmlformats.org/drawingml/2006/main">
            <a:pPr>
              <a:defRPr sz="2100" b="1">
                <a:solidFill>
                  <a:srgbClr val="007F80"/>
                </a:solidFill>
                <a:latin typeface="DejaVu Sans"/>
                <a:ea typeface="DejaVu Sans"/>
                <a:cs typeface="DejaVu Sans"/>
              </a:defRPr>
            </a:pPr>
            <a:r>
              <a:rPr sz="2100" b="1">
                <a:solidFill>
                  <a:srgbClr val="007F80"/>
                </a:solidFill>
                <a:latin typeface="DejaVu Sans"/>
                <a:ea typeface="DejaVu Sans"/>
                <a:cs typeface="DejaVu Sans"/>
              </a:rPr>
              <a:t>Phạm vi đã kiểm chứng</a:t>
            </a:r>
          </a:p>
        </p:txBody>
      </p:sp>
      <p:sp>
        <p:nvSpPr>
          <p:cNvPr id="8" name="text-7">
            <a:extLst xmlns:a="http://schemas.openxmlformats.org/drawingml/2006/main">
              <a:ext uri="{FF2B5EF4-FFF2-40B4-BE49-F238E27FC236}">
                <a16:creationId xmlns:a16="http://schemas.microsoft.com/office/drawing/2014/main" id="{0B869598-3C9A-4CE9-ADF9-2AC82F4972C5}"/>
              </a:ext>
            </a:extLst>
          </p:cNvPr>
          <p:cNvSpPr>
            <a:spLocks xmlns:a="http://schemas.openxmlformats.org/drawingml/2006/main" noGrp="1"/>
          </p:cNvSpPr>
          <p:nvPr/>
        </p:nvSpPr>
        <p:spPr>
          <a:xfrm xmlns:a="http://schemas.openxmlformats.org/drawingml/2006/main">
            <a:off x="571500" y="495300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52F3B"/>
                </a:solidFill>
                <a:latin typeface="DejaVu Sans"/>
                <a:ea typeface="DejaVu Sans"/>
                <a:cs typeface="DejaVu Sans"/>
              </a:defRPr>
            </a:defPPr>
          </a:lstStyle>
          <a:p xmlns:a="http://schemas.openxmlformats.org/drawingml/2006/main">
            <a:pPr>
              <a:defRPr sz="1875" b="0">
                <a:solidFill>
                  <a:srgbClr val="152F3B"/>
                </a:solidFill>
                <a:latin typeface="DejaVu Sans"/>
                <a:ea typeface="DejaVu Sans"/>
                <a:cs typeface="DejaVu Sans"/>
              </a:defRPr>
            </a:pPr>
            <a:r>
              <a:rPr sz="1875" b="0">
                <a:solidFill>
                  <a:srgbClr val="152F3B"/>
                </a:solidFill>
                <a:latin typeface="DejaVu Sans"/>
                <a:ea typeface="DejaVu Sans"/>
                <a:cs typeface="DejaVu Sans"/>
              </a:rPr>
              <a:t>Đạt mục tiêu thử nghiệm giả lập. Chưa xác nhận chất lượng trên dữ liệu thật hoặc tác động kinh doanh.</a:t>
            </a:r>
          </a:p>
        </p:txBody>
      </p:sp>
    </p:spTree>
    <p:extLst>
      <p:ext uri="{BB962C8B-B14F-4D97-AF65-F5344CB8AC3E}">
        <p14:creationId xmlns:p14="http://schemas.microsoft.com/office/powerpoint/2010/main" val="1118400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2026-10-13T09:00:02.2490000Z</dcterms:created>
  <dcterms:modified xsi:type="dcterms:W3CDTF">2026-10-13T09:00:02.2490000Z</dcterms:modified>
</coreProperties>
</file>